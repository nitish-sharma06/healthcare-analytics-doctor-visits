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handoutMasterIdLst>
    <p:handoutMasterId r:id="rId11"/>
  </p:handoutMasterIdLst>
  <p:sldIdLst>
    <p:sldId id="338" r:id="rId3"/>
    <p:sldId id="327" r:id="rId4"/>
    <p:sldId id="315" r:id="rId5"/>
    <p:sldId id="329" r:id="rId6"/>
    <p:sldId id="302" r:id="rId7"/>
    <p:sldId id="339" r:id="rId9"/>
    <p:sldId id="30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E25E649-3F16-4E02-A733-19D2CDBF48F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 showGuides="1">
      <p:cViewPr varScale="1">
        <p:scale>
          <a:sx n="69" d="100"/>
          <a:sy n="69" d="100"/>
        </p:scale>
        <p:origin x="484" y="4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ustomXml" Target="../customXml/item3.xml"/><Relationship Id="rId16" Type="http://schemas.openxmlformats.org/officeDocument/2006/relationships/customXml" Target="../customXml/item2.xml"/><Relationship Id="rId15" Type="http://schemas.openxmlformats.org/officeDocument/2006/relationships/customXml" Target="../customXml/item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</p:txBody>
      </p:sp>
      <p:sp>
        <p:nvSpPr>
          <p:cNvPr id="15" name="Hexagon 14"/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/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/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/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/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/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/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/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/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/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/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/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/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22"/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Text Placeholder 22"/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2" name="Text Placeholder 22"/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/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8" name="Date Placeholder 3"/>
          <p:cNvSpPr txBox="1"/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/>
          <p:cNvSpPr txBox="1"/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  <a:endParaRPr lang="en-US" sz="1100" b="1" dirty="0">
              <a:solidFill>
                <a:schemeClr val="accent2"/>
              </a:solidFill>
            </a:endParaRPr>
          </a:p>
        </p:txBody>
      </p:sp>
      <p:sp>
        <p:nvSpPr>
          <p:cNvPr id="30" name="Slide Number Placeholder 5"/>
          <p:cNvSpPr txBox="1"/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hyperlink" Target="https://www.linkedin.com/in/nitish-sharma-6294913ab/" TargetMode="External"/><Relationship Id="rId2" Type="http://schemas.openxmlformats.org/officeDocument/2006/relationships/hyperlink" Target="https://github.com/nitish-sharma06" TargetMode="Externa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6313170" y="4420235"/>
            <a:ext cx="4173220" cy="1217295"/>
          </a:xfrm>
        </p:spPr>
        <p:txBody>
          <a:bodyPr>
            <a:normAutofit lnSpcReduction="10000"/>
          </a:bodyPr>
          <a:lstStyle/>
          <a:p>
            <a:pPr algn="r"/>
            <a:r>
              <a:rPr lang="en-US" b="0" dirty="0" smtClean="0">
                <a:solidFill>
                  <a:schemeClr val="tx1"/>
                </a:solidFill>
              </a:rPr>
              <a:t>Nitish</a:t>
            </a:r>
            <a:r>
              <a:rPr lang="en-IN" altLang="en-US" b="0" dirty="0" smtClean="0">
                <a:solidFill>
                  <a:schemeClr val="tx1"/>
                </a:solidFill>
              </a:rPr>
              <a:t> Bhardwaj</a:t>
            </a:r>
            <a:endParaRPr lang="en-IN" altLang="en-US" b="0" dirty="0" smtClean="0">
              <a:solidFill>
                <a:schemeClr val="tx1"/>
              </a:solidFill>
            </a:endParaRPr>
          </a:p>
          <a:p>
            <a:pPr algn="r"/>
            <a:endParaRPr lang="en-US" altLang="en-US" b="0" dirty="0" smtClean="0">
              <a:solidFill>
                <a:schemeClr val="tx1"/>
              </a:solidFill>
            </a:endParaRPr>
          </a:p>
          <a:p>
            <a:pPr algn="r"/>
            <a:r>
              <a:rPr lang="en-US" altLang="en-US" b="0" dirty="0" smtClean="0">
                <a:solidFill>
                  <a:schemeClr val="tx1"/>
                </a:solidFill>
              </a:rPr>
              <a:t>ID: STU6a26a9143d65f1780918548</a:t>
            </a:r>
            <a:endParaRPr lang="en-US" altLang="en-US" b="0" dirty="0" smtClean="0">
              <a:solidFill>
                <a:schemeClr val="tx1"/>
              </a:solidFill>
            </a:endParaRPr>
          </a:p>
          <a:p>
            <a:pPr algn="r"/>
            <a:endParaRPr lang="en-IN" altLang="en-US" b="0" dirty="0" smtClean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/>
          </a:bodyPr>
          <a:lstStyle/>
          <a:p>
            <a:r>
              <a:rPr lang="en-GB" sz="3200" dirty="0" smtClean="0"/>
              <a:t>Healthcare Analytics for Doctor Visits</a:t>
            </a:r>
            <a:endParaRPr lang="en-IN" sz="3200" dirty="0"/>
          </a:p>
        </p:txBody>
      </p:sp>
      <p:sp>
        <p:nvSpPr>
          <p:cNvPr id="15" name="Text Placeholder 1"/>
          <p:cNvSpPr txBox="1"/>
          <p:nvPr/>
        </p:nvSpPr>
        <p:spPr>
          <a:xfrm>
            <a:off x="6400800" y="3037206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/>
              <a:t>Panipat Institute of Engineering and Technology</a:t>
            </a:r>
            <a:endParaRPr lang="en-GB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</a:rPr>
              <a:t>Doctor visit frequency varies widely across patients, and the reasons behind that variation are not well understood by providers.</a:t>
            </a:r>
            <a:endParaRPr sz="1600">
              <a:solidFill>
                <a:srgbClr val="333333"/>
              </a:solidFill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</a:rPr>
              <a:t>Without data-driven insight, hospitals and insurers struggle to identify which patient groups need more preventive care or support.</a:t>
            </a:r>
            <a:endParaRPr sz="1600">
              <a:solidFill>
                <a:srgbClr val="333333"/>
              </a:solidFill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</a:rPr>
              <a:t>This project analyzes patient data to uncover how age, income, insurance, illness severity, and chronic conditions relate to visit frequency.</a:t>
            </a:r>
            <a:endParaRPr sz="1600">
              <a:solidFill>
                <a:srgbClr val="333333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Project Description</a:t>
            </a:r>
            <a:br>
              <a:rPr lang="en-GB" dirty="0" smtClean="0"/>
            </a:br>
            <a:r>
              <a:rPr lang="en-GB" sz="2000" b="0" dirty="0" smtClean="0"/>
              <a:t>Exploring what drives doctor-visit frequency using patient health &amp; demographic data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1965960"/>
            <a:ext cx="7863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21295C"/>
                </a:solidFill>
              </a:rPr>
              <a:t>▸  Dataset: </a:t>
            </a:r>
            <a:r>
              <a:rPr sz="1700">
                <a:solidFill>
                  <a:srgbClr val="333333"/>
                </a:solidFill>
              </a:rPr>
              <a:t>5,190 patient records with 12 variables — demographics, income, insurance coverage, illness score, chronic condition flags, and number of doctor visits.</a:t>
            </a:r>
            <a:endParaRPr sz="1700">
              <a:solidFill>
                <a:srgbClr val="333333"/>
              </a:solidFill>
            </a:endParaRP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21295C"/>
                </a:solidFill>
              </a:rPr>
              <a:t>▸  Objective: </a:t>
            </a:r>
            <a:r>
              <a:rPr sz="1700">
                <a:solidFill>
                  <a:srgbClr val="333333"/>
                </a:solidFill>
              </a:rPr>
              <a:t>identify which factors most strongly influence how often patients visit a doctor.</a:t>
            </a:r>
            <a:endParaRPr sz="1700">
              <a:solidFill>
                <a:srgbClr val="333333"/>
              </a:solidFill>
            </a:endParaRP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21295C"/>
                </a:solidFill>
              </a:rPr>
              <a:t>▸  Approach: </a:t>
            </a:r>
            <a:r>
              <a:rPr sz="1700">
                <a:solidFill>
                  <a:srgbClr val="333333"/>
                </a:solidFill>
              </a:rPr>
              <a:t>data cleaning and quality checks, followed by univariate, bivariate, and multivariate exploratory analysis using Python.</a:t>
            </a:r>
            <a:endParaRPr sz="1700">
              <a:solidFill>
                <a:srgbClr val="333333"/>
              </a:solidFill>
            </a:endParaRP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21295C"/>
                </a:solidFill>
              </a:rPr>
              <a:t>▸  Outcome: </a:t>
            </a:r>
            <a:r>
              <a:rPr sz="1700">
                <a:solidFill>
                  <a:srgbClr val="333333"/>
                </a:solidFill>
              </a:rPr>
              <a:t>a set of practical insights healthcare providers and insurers can use to target outreach and plan resources.</a:t>
            </a:r>
            <a:endParaRPr sz="1700">
              <a:solidFill>
                <a:srgbClr val="33333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  <a:spcAft>
                <a:spcPts val="1600"/>
              </a:spcAft>
            </a:pPr>
            <a:r>
              <a:rPr sz="1800">
                <a:solidFill>
                  <a:srgbClr val="333333"/>
                </a:solidFill>
              </a:rPr>
              <a:t>Hospital &amp; clinic administrators — for staffing and resource planning around expected patient volume.</a:t>
            </a:r>
            <a:endParaRPr sz="1800">
              <a:solidFill>
                <a:srgbClr val="333333"/>
              </a:solidFill>
            </a:endParaRPr>
          </a:p>
          <a:p>
            <a:pPr algn="just">
              <a:lnSpc>
                <a:spcPct val="150000"/>
              </a:lnSpc>
              <a:spcAft>
                <a:spcPts val="1600"/>
              </a:spcAft>
            </a:pPr>
            <a:r>
              <a:rPr sz="1800">
                <a:solidFill>
                  <a:srgbClr val="333333"/>
                </a:solidFill>
              </a:rPr>
              <a:t>Health insurance providers — to assess risk and design coverage plans around visit patterns.</a:t>
            </a:r>
            <a:endParaRPr sz="1800">
              <a:solidFill>
                <a:srgbClr val="333333"/>
              </a:solidFill>
            </a:endParaRPr>
          </a:p>
          <a:p>
            <a:pPr algn="just">
              <a:lnSpc>
                <a:spcPct val="150000"/>
              </a:lnSpc>
              <a:spcAft>
                <a:spcPts val="1600"/>
              </a:spcAft>
            </a:pPr>
            <a:r>
              <a:rPr sz="1800">
                <a:solidFill>
                  <a:srgbClr val="333333"/>
                </a:solidFill>
              </a:rPr>
              <a:t>Public health policymakers — to identify underserved or high-need patient populations.</a:t>
            </a:r>
            <a:endParaRPr sz="1800">
              <a:solidFill>
                <a:srgbClr val="333333"/>
              </a:solidFill>
            </a:endParaRPr>
          </a:p>
          <a:p>
            <a:pPr algn="just">
              <a:lnSpc>
                <a:spcPct val="150000"/>
              </a:lnSpc>
              <a:spcAft>
                <a:spcPts val="1600"/>
              </a:spcAft>
            </a:pPr>
            <a:r>
              <a:rPr sz="1800">
                <a:solidFill>
                  <a:srgbClr val="333333"/>
                </a:solidFill>
              </a:rPr>
              <a:t>Healthcare researchers &amp; data analysts — studying access to care and utilization trends.</a:t>
            </a:r>
            <a:endParaRPr sz="1800">
              <a:solidFill>
                <a:srgbClr val="333333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103120" y="1432560"/>
            <a:ext cx="7315200" cy="5243448"/>
          </a:xfrm>
        </p:spPr>
        <p:txBody>
          <a:bodyPr wrap="square"/>
          <a:lstStyle/>
          <a:p>
            <a:pPr lvl="1">
              <a:lnSpc>
                <a:spcPct val="150000"/>
              </a:lnSpc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Python 3 — core programming language</a:t>
            </a:r>
            <a:endParaRPr sz="1600">
              <a:solidFill>
                <a:srgbClr val="333333"/>
              </a:solidFill>
            </a:endParaRPr>
          </a:p>
          <a:p>
            <a:pPr lvl="1">
              <a:lnSpc>
                <a:spcPct val="150000"/>
              </a:lnSpc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Pandas &amp; NumPy — data cleaning and manipulation</a:t>
            </a:r>
            <a:endParaRPr sz="1600">
              <a:solidFill>
                <a:srgbClr val="333333"/>
              </a:solidFill>
            </a:endParaRPr>
          </a:p>
          <a:p>
            <a:pPr lvl="1">
              <a:lnSpc>
                <a:spcPct val="150000"/>
              </a:lnSpc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Matplotlib &amp; Seaborn — data visualization</a:t>
            </a:r>
            <a:endParaRPr sz="1600">
              <a:solidFill>
                <a:srgbClr val="333333"/>
              </a:solidFill>
            </a:endParaRPr>
          </a:p>
          <a:p>
            <a:pPr lvl="1">
              <a:lnSpc>
                <a:spcPct val="150000"/>
              </a:lnSpc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Jupyter Notebook / Google Colab — analysis environment</a:t>
            </a:r>
            <a:endParaRPr sz="1600">
              <a:solidFill>
                <a:srgbClr val="333333"/>
              </a:solidFill>
            </a:endParaRPr>
          </a:p>
          <a:p>
            <a:pPr lvl="1">
              <a:lnSpc>
                <a:spcPct val="150000"/>
              </a:lnSpc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CSV dataset — 5,190 patient records</a:t>
            </a:r>
            <a:endParaRPr sz="1600">
              <a:solidFill>
                <a:srgbClr val="333333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21295C"/>
                </a:solidFill>
              </a:rPr>
              <a:t>Patient Gender Split</a:t>
            </a:r>
            <a:endParaRPr sz="1400" b="1">
              <a:solidFill>
                <a:srgbClr val="21295C"/>
              </a:solidFill>
            </a:endParaRPr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21295C"/>
                </a:solidFill>
              </a:rPr>
              <a:t>Insurance &amp; Visit Frequency</a:t>
            </a:r>
            <a:endParaRPr sz="1400" b="1">
              <a:solidFill>
                <a:srgbClr val="21295C"/>
              </a:solidFill>
            </a:endParaRPr>
          </a:p>
        </p:txBody>
      </p:sp>
      <p:sp>
        <p:nvSpPr>
          <p:cNvPr id="9" name="Title 3"/>
          <p:cNvSpPr txBox="1"/>
          <p:nvPr/>
        </p:nvSpPr>
        <p:spPr>
          <a:xfrm>
            <a:off x="320040" y="5577840"/>
            <a:ext cx="5943600" cy="457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1400" b="0" i="1" dirty="0"/>
              <a:t>Full code &amp; charts: see attached Jupyter notebook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pie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74" y="1828800"/>
            <a:ext cx="1710592" cy="1645920"/>
          </a:xfrm>
          <a:prstGeom prst="rect">
            <a:avLst/>
          </a:prstGeom>
        </p:spPr>
      </p:pic>
      <p:pic>
        <p:nvPicPr>
          <p:cNvPr id="32" name="Picture 31" descr="insurance_vis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047" y="1828800"/>
            <a:ext cx="1987526" cy="1645920"/>
          </a:xfrm>
          <a:prstGeom prst="rect">
            <a:avLst/>
          </a:prstGeom>
        </p:spPr>
      </p:pic>
      <p:pic>
        <p:nvPicPr>
          <p:cNvPr id="33" name="Picture 32" descr="illness_reg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01" y="3703320"/>
            <a:ext cx="2670738" cy="1645920"/>
          </a:xfrm>
          <a:prstGeom prst="rect">
            <a:avLst/>
          </a:prstGeom>
        </p:spPr>
      </p:pic>
      <p:pic>
        <p:nvPicPr>
          <p:cNvPr id="34" name="Picture 33" descr="corr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9482" y="3703320"/>
            <a:ext cx="1876656" cy="1645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  <a:endParaRPr lang="en-US" dirty="0"/>
          </a:p>
        </p:txBody>
      </p:sp>
      <p:sp>
        <p:nvSpPr>
          <p:cNvPr id="17" name="Text Placeholder 28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/>
          <p:cNvSpPr txBox="1"/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/>
          <p:cNvSpPr txBox="1"/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/>
          <p:cNvSpPr txBox="1"/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/>
          <p:cNvSpPr txBox="1"/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  <a:endParaRPr lang="en-GB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>
            <a:off x="548640" y="192024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1">
                <a:solidFill>
                  <a:srgbClr val="21295C"/>
                </a:solidFill>
              </a:rPr>
              <a:t>Thank you for your time and attention!</a:t>
            </a:r>
            <a:endParaRPr sz="2400" b="1">
              <a:solidFill>
                <a:srgbClr val="21295C"/>
              </a:solidFill>
            </a:endParaRPr>
          </a:p>
          <a:p>
            <a:r>
              <a:rPr sz="1600">
                <a:solidFill>
                  <a:srgbClr val="333333"/>
                </a:solidFill>
              </a:rPr>
              <a:t>Healthcare Analytics for Doctor Visits — Python, Pandas, Matplotlib &amp; Seaborn EDA on 5,190 patient records</a:t>
            </a:r>
            <a:endParaRPr sz="1600">
              <a:solidFill>
                <a:srgbClr val="333333"/>
              </a:solidFill>
            </a:endParaRPr>
          </a:p>
          <a:p>
            <a:pPr>
              <a:spcBef>
                <a:spcPts val="1000"/>
              </a:spcBef>
            </a:pPr>
            <a:r>
              <a:rPr sz="1600" i="1">
                <a:solidFill>
                  <a:srgbClr val="333333"/>
                </a:solidFill>
              </a:rPr>
              <a:t>Questions &amp; feedback welcome.</a:t>
            </a:r>
            <a:endParaRPr sz="1600" i="1">
              <a:solidFill>
                <a:srgbClr val="333333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75640" y="4321175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1295C"/>
                </a:solidFill>
              </a:rPr>
              <a:t>GitHub: </a:t>
            </a:r>
            <a:r>
              <a:rPr sz="1500" u="sng">
                <a:solidFill>
                  <a:srgbClr val="1F5FA8"/>
                </a:solidFill>
                <a:hlinkClick r:id="rId2"/>
              </a:rPr>
              <a:t>github.com/nitish-sharma06</a:t>
            </a:r>
            <a:endParaRPr sz="1500" u="sng">
              <a:solidFill>
                <a:srgbClr val="1F5FA8"/>
              </a:solidFill>
            </a:endParaRP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21295C"/>
                </a:solidFill>
              </a:rPr>
              <a:t>LinkedIn: </a:t>
            </a:r>
            <a:r>
              <a:rPr sz="1500" u="sng">
                <a:solidFill>
                  <a:srgbClr val="1F5FA8"/>
                </a:solidFill>
                <a:hlinkClick r:id="rId3"/>
              </a:rPr>
              <a:t>linkedin.com/in/nitish-sharma-6294913ab</a:t>
            </a:r>
            <a:endParaRPr sz="1500" u="sng">
              <a:solidFill>
                <a:srgbClr val="1F5FA8"/>
              </a:solidFill>
              <a:hlinkClick r:id="rId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/>
</ds:datastoreItem>
</file>

<file path=customXml/itemProps2.xml><?xml version="1.0" encoding="utf-8"?>
<ds:datastoreItem xmlns:ds="http://schemas.openxmlformats.org/officeDocument/2006/customXml" ds:itemID="{05D99ABA-76CE-4A8E-B5F0-C051B96628DE}">
  <ds:schemaRefs/>
</ds:datastoreItem>
</file>

<file path=customXml/itemProps3.xml><?xml version="1.0" encoding="utf-8"?>
<ds:datastoreItem xmlns:ds="http://schemas.openxmlformats.org/officeDocument/2006/customXml" ds:itemID="{4DEA9014-ED64-4558-B1E1-D03F0EE32BE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2154</Words>
  <Application>WPS Presentation</Application>
  <PresentationFormat>Widescreen</PresentationFormat>
  <Paragraphs>58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Wingdings 3</vt:lpstr>
      <vt:lpstr>Symbol</vt:lpstr>
      <vt:lpstr>Arial</vt:lpstr>
      <vt:lpstr>Calibri</vt:lpstr>
      <vt:lpstr>Trebuchet MS</vt:lpstr>
      <vt:lpstr>Microsoft YaHei</vt:lpstr>
      <vt:lpstr>Arial Unicode MS</vt:lpstr>
      <vt:lpstr>Facet</vt:lpstr>
      <vt:lpstr>Healthcare Analytics for Doctor Visits</vt:lpstr>
      <vt:lpstr>PROBLEM  STATEMENT</vt:lpstr>
      <vt:lpstr>Project Description Exploring what drives doctor-visit frequency using patient health &amp; demographic data </vt:lpstr>
      <vt:lpstr>WHO ARE THE END USERS?</vt:lpstr>
      <vt:lpstr>Technology Used</vt:lpstr>
      <vt:lpstr>RESULTS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ayush</cp:lastModifiedBy>
  <cp:revision>75</cp:revision>
  <dcterms:created xsi:type="dcterms:W3CDTF">2021-07-11T13:13:00Z</dcterms:created>
  <dcterms:modified xsi:type="dcterms:W3CDTF">2026-09-21T09:52:03Z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KSOProductBuildVer">
    <vt:lpwstr>1033-12.1.0.28485</vt:lpwstr>
  </property>
  <property fmtid="{D5CDD505-2E9C-101B-9397-08002B2CF9AE}" pid="4" name="ICV">
    <vt:lpwstr>EFA2C22FF0FD4CDDB6F2DB9ACDA17DFD_12</vt:lpwstr>
  </property>
</Properties>
</file>